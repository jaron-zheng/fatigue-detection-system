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694944" cy="64008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8448" y="566928"/>
            <a:ext cx="694944" cy="64008"/>
          </a:xfrm>
          <a:prstGeom prst="rect">
            <a:avLst/>
          </a:prstGeom>
          <a:solidFill>
            <a:srgbClr val="E3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29968" y="566928"/>
            <a:ext cx="694944" cy="64008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61488" y="566928"/>
            <a:ext cx="694944" cy="64008"/>
          </a:xfrm>
          <a:prstGeom prst="rect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A6B8"/>
                </a:solidFill>
                <a:latin typeface="Microsoft YaHei"/>
                <a:ea typeface="Microsoft YaHei"/>
              </a:rPr>
              <a:t>本科毕业设计 · 答辩汇报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852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F2F4F8"/>
                </a:solidFill>
                <a:latin typeface="Microsoft YaHei"/>
                <a:ea typeface="Microsoft YaHei"/>
              </a:rPr>
              <a:t>基于面部多特征融合的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</a:rPr>
              <a:t>Web 端驾驶员疲劳检测系统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1012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A84FF"/>
                </a:solidFill>
                <a:latin typeface="Microsoft YaHei"/>
                <a:ea typeface="Microsoft YaHei"/>
              </a:rPr>
              <a:t>纯浏览器运行  ·  全本地计算  ·  零安装  ·  PWA 离线可用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70832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C8CFD9"/>
                </a:solidFill>
                <a:latin typeface="Microsoft YaHei"/>
                <a:ea typeface="Microsoft YaHei"/>
              </a:rPr>
              <a:t>汇报人：某某某　　学号：XXXXXXXX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C8CFD9"/>
                </a:solidFill>
                <a:latin typeface="Microsoft YaHei"/>
                <a:ea typeface="Microsoft YaHei"/>
              </a:rPr>
              <a:t>指导教师：某某某　教授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8CFD9"/>
                </a:solidFill>
                <a:latin typeface="Microsoft YaHei"/>
                <a:ea typeface="Microsoft YaHei"/>
              </a:rPr>
              <a:t>2026 年 X 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799"/>
            <a:ext cx="5349240" cy="3044952"/>
          </a:xfrm>
          <a:prstGeom prst="roundRect">
            <a:avLst>
              <a:gd name="adj" fmla="val 3000"/>
            </a:avLst>
          </a:prstGeom>
          <a:solidFill>
            <a:srgbClr val="0B0F14"/>
          </a:solidFill>
          <a:ln w="1524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ome-1366x7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19"/>
            <a:ext cx="5257800" cy="2953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493776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A3"/>
                </a:solidFill>
                <a:latin typeface="Microsoft YaHei"/>
                <a:ea typeface="Microsoft YaHei"/>
              </a:rPr>
              <a:t>系统首页（实测截图）：Tesla HUD 风格驾驶舱预览与疲劳仪表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84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D24"/>
                </a:solidFill>
                <a:latin typeface="Microsoft YaHei"/>
                <a:ea typeface="Microsoft YaHei"/>
              </a:rPr>
              <a:t>研究背景与问题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F6672"/>
                </a:solidFill>
                <a:latin typeface="Microsoft YaHei"/>
                <a:ea typeface="Microsoft YaHei"/>
              </a:rPr>
              <a:t>驾驶疲劳监测的三类现有方案，各有难以落地的痛点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57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疲劳检测系统 ·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6903720" cy="138988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64008" cy="1060704"/>
          </a:xfrm>
          <a:prstGeom prst="rect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27632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A1D24"/>
                </a:solidFill>
                <a:latin typeface="Microsoft YaHei"/>
                <a:ea typeface="Microsoft YaHei"/>
              </a:rPr>
              <a:t>专用硬件方案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93392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F6672"/>
                </a:solidFill>
                <a:latin typeface="Microsoft YaHei"/>
                <a:ea typeface="Microsoft YaHei"/>
              </a:rPr>
              <a:t>方向盘握力 / 眼动仪 / 可穿戴设备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04288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F6672"/>
                </a:solidFill>
                <a:latin typeface="Microsoft YaHei"/>
                <a:ea typeface="Microsoft YaHei"/>
              </a:rPr>
              <a:t>装机成本高，后装渗透率低，难以大范围推广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6903720" cy="138988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82112"/>
            <a:ext cx="64008" cy="1060704"/>
          </a:xfrm>
          <a:prstGeom prst="rect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63824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A1D24"/>
                </a:solidFill>
                <a:latin typeface="Microsoft YaHei"/>
                <a:ea typeface="Microsoft YaHei"/>
              </a:rPr>
              <a:t>单一特征方案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529584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F6672"/>
                </a:solidFill>
                <a:latin typeface="Microsoft YaHei"/>
                <a:ea typeface="Microsoft YaHei"/>
              </a:rPr>
              <a:t>仅依赖 PERCLOS 等单一指标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840480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F6672"/>
                </a:solidFill>
                <a:latin typeface="Microsoft YaHei"/>
                <a:ea typeface="Microsoft YaHei"/>
              </a:rPr>
              <a:t>个体差异大，眼镜、姿态干扰下误报率高，判定不可解释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53712"/>
            <a:ext cx="6903720" cy="138988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18303"/>
            <a:ext cx="64008" cy="1060704"/>
          </a:xfrm>
          <a:prstGeom prst="rect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700016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A1D24"/>
                </a:solidFill>
                <a:latin typeface="Microsoft YaHei"/>
                <a:ea typeface="Microsoft YaHei"/>
              </a:rPr>
              <a:t>云端视觉方案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065775"/>
            <a:ext cx="6492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F6672"/>
                </a:solidFill>
                <a:latin typeface="Microsoft YaHei"/>
                <a:ea typeface="Microsoft YaHei"/>
              </a:rPr>
              <a:t>视频上传服务器进行分析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376672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5F6672"/>
                </a:solidFill>
                <a:latin typeface="Microsoft YaHei"/>
                <a:ea typeface="Microsoft YaHei"/>
              </a:rPr>
              <a:t>存在隐私顾虑；弱网 / 断网环境完全不可用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481328"/>
            <a:ext cx="3959352" cy="2834640"/>
          </a:xfrm>
          <a:prstGeom prst="roundRect">
            <a:avLst>
              <a:gd name="adj" fmla="val 9000"/>
            </a:avLst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175564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选题思路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3568" y="2139696"/>
            <a:ext cx="329184" cy="64008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9328" y="2139696"/>
            <a:ext cx="329184" cy="64008"/>
          </a:xfrm>
          <a:prstGeom prst="rect">
            <a:avLst/>
          </a:prstGeom>
          <a:solidFill>
            <a:srgbClr val="E3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05088" y="2139696"/>
            <a:ext cx="329184" cy="64008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0848" y="2139696"/>
            <a:ext cx="329184" cy="64008"/>
          </a:xfrm>
          <a:prstGeom prst="rect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23408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A84FF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40864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D5DBE3"/>
                </a:solidFill>
                <a:latin typeface="Microsoft YaHei"/>
                <a:ea typeface="Microsoft YaHei"/>
              </a:rPr>
              <a:t>多特征融合决策——不押注单一指标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29443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A84FF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44368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D5DBE3"/>
                </a:solidFill>
                <a:latin typeface="Microsoft YaHei"/>
                <a:ea typeface="Microsoft YaHei"/>
              </a:rPr>
              <a:t>全本地计算——视频数据不出本机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35478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A84FF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547872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D5DBE3"/>
                </a:solidFill>
                <a:latin typeface="Microsoft YaHei"/>
                <a:ea typeface="Microsoft YaHei"/>
              </a:rPr>
              <a:t>零安装——打开浏览器即可使用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4498848"/>
            <a:ext cx="3959352" cy="1481328"/>
          </a:xfrm>
          <a:prstGeom prst="roundRect">
            <a:avLst>
              <a:gd name="adj" fmla="val 9000"/>
            </a:avLst>
          </a:prstGeom>
          <a:solidFill>
            <a:srgbClr val="EAF2FF"/>
          </a:solidFill>
          <a:ln w="9525">
            <a:solidFill>
              <a:srgbClr val="BF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4681728"/>
            <a:ext cx="3429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核心问题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 i="0">
                <a:solidFill>
                  <a:srgbClr val="1A1D24"/>
                </a:solidFill>
                <a:latin typeface="Microsoft YaHei"/>
                <a:ea typeface="Microsoft YaHei"/>
              </a:rPr>
              <a:t>能否不装任何硬件、不上传任何视频，在浏览器里做出可信、可解释的疲劳判定？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基于面部多特征融合的 Web 端驾驶员疲劳检测系统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84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D24"/>
                </a:solidFill>
                <a:latin typeface="Microsoft YaHei"/>
                <a:ea typeface="Microsoft YaHei"/>
              </a:rPr>
              <a:t>研究目标与技术指标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F6672"/>
                </a:solidFill>
                <a:latin typeface="Microsoft YaHei"/>
                <a:ea typeface="Microsoft YaHei"/>
              </a:rPr>
              <a:t>输出 [0,100] 连续疲劳指数，并划分为四级疲劳状态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57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疲劳检测系统 · 毕业设计答辩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672"/>
                </a:solidFill>
                <a:latin typeface="Microsoft YaHei"/>
                <a:ea typeface="Microsoft YaHei"/>
              </a:rPr>
              <a:t>疲劳指数分级（阈值与 web/js/config.js 完全一致）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55648"/>
            <a:ext cx="3281781" cy="713232"/>
          </a:xfrm>
          <a:prstGeom prst="roundRect">
            <a:avLst>
              <a:gd name="adj" fmla="val 9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1A1D24"/>
                </a:solidFill>
                <a:latin typeface="Microsoft YaHei"/>
                <a:ea typeface="Microsoft YaHei"/>
              </a:rPr>
              <a:t>清醒</a:t>
            </a:r>
          </a:p>
          <a:p>
            <a:pPr algn="ctr"/>
            <a:r>
              <a:rPr sz="1000" b="0" i="0">
                <a:solidFill>
                  <a:srgbClr val="1A1D24"/>
                </a:solidFill>
                <a:latin typeface="Microsoft YaHei"/>
                <a:ea typeface="Microsoft YaHei"/>
              </a:rPr>
              <a:t>0 –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76141" y="1755648"/>
            <a:ext cx="2394447" cy="713232"/>
          </a:xfrm>
          <a:prstGeom prst="roundRect">
            <a:avLst>
              <a:gd name="adj" fmla="val 9000"/>
            </a:avLst>
          </a:prstGeom>
          <a:solidFill>
            <a:srgbClr val="E3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轻度疲劳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</a:rPr>
              <a:t>30 – 52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6309" y="1755648"/>
            <a:ext cx="2394447" cy="713232"/>
          </a:xfrm>
          <a:prstGeom prst="roundRect">
            <a:avLst>
              <a:gd name="adj" fmla="val 9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中度疲劳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</a:rPr>
              <a:t>52 – 74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6477" y="1755648"/>
            <a:ext cx="2838114" cy="713232"/>
          </a:xfrm>
          <a:prstGeom prst="roundRect">
            <a:avLst>
              <a:gd name="adj" fmla="val 9000"/>
            </a:avLst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重度疲劳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</a:rPr>
              <a:t>74 –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2670048" cy="22860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255264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实时性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63931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D24"/>
                </a:solidFill>
                <a:latin typeface="Microsoft YaHei"/>
                <a:ea typeface="Microsoft YaHei"/>
              </a:rPr>
              <a:t>单帧推理 ≤ 45ms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370832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GPU / CPU 双委托，GPU 失败自动回退（e2e 实测）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017520"/>
            <a:ext cx="2670048" cy="22860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3255264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隐私性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363931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D24"/>
                </a:solidFill>
                <a:latin typeface="Microsoft YaHei"/>
                <a:ea typeface="Microsoft YaHei"/>
              </a:rPr>
              <a:t>数据全程不出本机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4370832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模型与 WASM 全本地加载，无第三方运行时请求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017520"/>
            <a:ext cx="2670048" cy="22860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255264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可用性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63931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D24"/>
                </a:solidFill>
                <a:latin typeface="Microsoft YaHei"/>
                <a:ea typeface="Microsoft YaHei"/>
              </a:rPr>
              <a:t>PWA 离线全功能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370832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断网下检测、报警、导出均实测可用（12/12 断网用例）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64" y="3017520"/>
            <a:ext cx="2670048" cy="22860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255264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兼容性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63931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1D24"/>
                </a:solidFill>
                <a:latin typeface="Microsoft YaHei"/>
                <a:ea typeface="Microsoft YaHei"/>
              </a:rPr>
              <a:t>三大引擎实测通过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370832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Chromium / Firefox / WebKit 各 12 项断言，24/24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9000"/>
            </a:avLst>
          </a:prstGeom>
          <a:solidFill>
            <a:srgbClr val="EAF2FF"/>
          </a:solidFill>
          <a:ln w="9525">
            <a:solidFill>
              <a:srgbClr val="BF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705856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1D24"/>
                </a:solidFill>
                <a:latin typeface="Microsoft YaHei"/>
                <a:ea typeface="Microsoft YaHei"/>
              </a:rPr>
              <a:t>判定语义：轻度=提示提醒 · 中度=建议休息 · 重度=强报警（声光+横幅，分级冷却防轰炸）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基于面部多特征融合的 Web 端驾驶员疲劳检测系统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84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D24"/>
                </a:solidFill>
                <a:latin typeface="Microsoft YaHei"/>
                <a:ea typeface="Microsoft YaHei"/>
              </a:rPr>
              <a:t>系统架构：三层流水线 + 会话状态机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F6672"/>
                </a:solidFill>
                <a:latin typeface="Microsoft YaHei"/>
                <a:ea typeface="Microsoft YaHei"/>
              </a:rPr>
              <a:t>纯前端单页应用；MediaPipe WASM 推理；状态机守护全部交互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57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疲劳检测系统 ·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3401568" cy="27432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77393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采集层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408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A84FF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408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getUserMedia 30fps 视频流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A84FF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980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MediaPipe FaceLandmarker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2552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A84FF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552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478 个人脸关键点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7124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A84FF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124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WebGL / CPU 双委托推理</a:t>
            </a:r>
          </a:p>
        </p:txBody>
      </p:sp>
      <p:sp>
        <p:nvSpPr>
          <p:cNvPr id="18" name="Chevron 17"/>
          <p:cNvSpPr/>
          <p:nvPr/>
        </p:nvSpPr>
        <p:spPr>
          <a:xfrm>
            <a:off x="4005072" y="2706624"/>
            <a:ext cx="329184" cy="457200"/>
          </a:xfrm>
          <a:prstGeom prst="chevron">
            <a:avLst/>
          </a:prstGeom>
          <a:solidFill>
            <a:srgbClr val="C5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1572768"/>
            <a:ext cx="3401568" cy="27432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08576" y="177393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特征层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23408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9F0A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3408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EAR 眼纵横比 · MAR 嘴纵横比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27980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9F0A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7980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PERCLOS 时间加权占比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2552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9F0A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2552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欧拉角头部姿态解算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7124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9F0A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7124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眨眼 / 哈欠 / 点头 / 分神事件</a:t>
            </a:r>
          </a:p>
        </p:txBody>
      </p:sp>
      <p:sp>
        <p:nvSpPr>
          <p:cNvPr id="29" name="Chevron 28"/>
          <p:cNvSpPr/>
          <p:nvPr/>
        </p:nvSpPr>
        <p:spPr>
          <a:xfrm>
            <a:off x="7845552" y="2706624"/>
            <a:ext cx="329184" cy="457200"/>
          </a:xfrm>
          <a:prstGeom prst="chevron">
            <a:avLst/>
          </a:prstGeom>
          <a:solidFill>
            <a:srgbClr val="C5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1572768"/>
            <a:ext cx="3401568" cy="27432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49056" y="177393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决策层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23408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453A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3408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模糊加权融合引擎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27980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453A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7980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迟滞 + 驻留防抖判定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32552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453A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552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语义否决假阳性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37124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453A"/>
                </a:solidFill>
                <a:latin typeface="Microsoft YaHei"/>
                <a:ea typeface="Microsoft YaHei"/>
              </a:rPr>
              <a:t>·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712464"/>
            <a:ext cx="2788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四级预警 · 分级声光报警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626864"/>
            <a:ext cx="11091672" cy="1481328"/>
          </a:xfrm>
          <a:prstGeom prst="roundRect">
            <a:avLst>
              <a:gd name="adj" fmla="val 9000"/>
            </a:avLst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791456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会话状态机（守护一切交互的前提）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230368"/>
            <a:ext cx="1389888" cy="402336"/>
          </a:xfrm>
          <a:prstGeom prst="roundRect">
            <a:avLst>
              <a:gd name="adj" fmla="val 50000"/>
            </a:avLst>
          </a:prstGeom>
          <a:solidFill>
            <a:srgbClr val="2A3340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IDLE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31136" y="5266944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4A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15184" y="5230368"/>
            <a:ext cx="1389888" cy="402336"/>
          </a:xfrm>
          <a:prstGeom prst="roundRect">
            <a:avLst>
              <a:gd name="adj" fmla="val 50000"/>
            </a:avLst>
          </a:prstGeom>
          <a:solidFill>
            <a:srgbClr val="2A3340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BOOTING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5266944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4A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07408" y="5230368"/>
            <a:ext cx="1389888" cy="402336"/>
          </a:xfrm>
          <a:prstGeom prst="roundRect">
            <a:avLst>
              <a:gd name="adj" fmla="val 50000"/>
            </a:avLst>
          </a:prstGeom>
          <a:solidFill>
            <a:srgbClr val="2A3340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CALIBRATING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15584" y="5266944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4A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9632" y="5230368"/>
            <a:ext cx="1389888" cy="4023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RUNNING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7808" y="5266944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4A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91856" y="5230368"/>
            <a:ext cx="1389888" cy="402336"/>
          </a:xfrm>
          <a:prstGeom prst="roundRect">
            <a:avLst>
              <a:gd name="adj" fmla="val 50000"/>
            </a:avLst>
          </a:prstGeom>
          <a:solidFill>
            <a:srgbClr val="2A3340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PAUSED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00032" y="5266944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4A3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84080" y="5230368"/>
            <a:ext cx="1389888" cy="402336"/>
          </a:xfrm>
          <a:prstGeom prst="roundRect">
            <a:avLst>
              <a:gd name="adj" fmla="val 50000"/>
            </a:avLst>
          </a:prstGeom>
          <a:solidFill>
            <a:srgbClr val="2A3340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REPORT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4828032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D5DBE3"/>
                </a:solidFill>
                <a:latin typeface="Microsoft YaHei"/>
                <a:ea typeface="Microsoft YaHei"/>
              </a:rPr>
              <a:t>状态机 38 项断言全覆盖：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Microsoft YaHei"/>
                <a:ea typeface="Microsoft YaHei"/>
              </a:rPr>
              <a:t>非法迁移一律拒绝并保持原状态；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Microsoft YaHei"/>
                <a:ea typeface="Microsoft YaHei"/>
              </a:rPr>
              <a:t>守卫缺失类 bug（未完成可导出等）由此根治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基于面部多特征融合的 Web 端驾驶员疲劳检测系统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84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D24"/>
                </a:solidFill>
                <a:latin typeface="Microsoft YaHei"/>
                <a:ea typeface="Microsoft YaHei"/>
              </a:rPr>
              <a:t>算法核心一：多特征提取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F6672"/>
                </a:solidFill>
                <a:latin typeface="Microsoft YaHei"/>
                <a:ea typeface="Microsoft YaHei"/>
              </a:rPr>
              <a:t>眼部 / 口部 / 姿态 / 事件四路信号，全部由 478 关键点实时导出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57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疲劳检测系统 ·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5468112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64207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A1D24"/>
                </a:solidFill>
                <a:latin typeface="Microsoft YaHei"/>
                <a:ea typeface="Microsoft YaHei"/>
              </a:rPr>
              <a:t>EAR 眼纵横比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029967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A84FF"/>
                </a:solidFill>
                <a:latin typeface="Consolas"/>
                <a:ea typeface="Consolas"/>
              </a:rPr>
              <a:t>EAR = (|p2-p6| + |p3-p5|) / (2|p1-p4|)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32304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闭眼判定 = 睁眼基线 × 0.72；恢复 = × 0.80，双阈值滞回抗抖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17904"/>
            <a:ext cx="5468112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664207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A1D24"/>
                </a:solidFill>
                <a:latin typeface="Microsoft YaHei"/>
                <a:ea typeface="Microsoft YaHei"/>
              </a:rPr>
              <a:t>MAR 嘴纵横比 → 哈欠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029967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A84FF"/>
                </a:solidFill>
                <a:latin typeface="Consolas"/>
                <a:ea typeface="Consolas"/>
              </a:rPr>
              <a:t>张口度持续超阈值且满足最短时长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432304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计一次哈欠事件，带不应期约束，过滤说话 / 深呼吸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27248"/>
            <a:ext cx="5468112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273552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A1D24"/>
                </a:solidFill>
                <a:latin typeface="Microsoft YaHei"/>
                <a:ea typeface="Microsoft YaHei"/>
              </a:rPr>
              <a:t>PERCLOS 闭眼时间占比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63931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A84FF"/>
                </a:solidFill>
                <a:latin typeface="Consolas"/>
                <a:ea typeface="Consolas"/>
              </a:rPr>
              <a:t>P80 标准；滑动窗口按区间真实时长加权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04164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采样率波动不引入偏置；间断观测不假设状态延续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27248"/>
            <a:ext cx="5468112" cy="1481328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3273552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A1D24"/>
                </a:solidFill>
                <a:latin typeface="Microsoft YaHei"/>
                <a:ea typeface="Microsoft YaHei"/>
              </a:rPr>
              <a:t>头部姿态（欧拉角）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63931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A84FF"/>
                </a:solidFill>
                <a:latin typeface="Consolas"/>
                <a:ea typeface="Consolas"/>
              </a:rPr>
              <a:t>旋转矩阵 → yaw / pitch / roll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404164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点头 = 俯仰角速度峰值；分神 = 偏离持续超时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91456"/>
            <a:ext cx="11091672" cy="1207008"/>
          </a:xfrm>
          <a:prstGeom prst="roundRect">
            <a:avLst>
              <a:gd name="adj" fmla="val 9000"/>
            </a:avLst>
          </a:prstGeom>
          <a:solidFill>
            <a:srgbClr val="E8F8EE"/>
          </a:solidFill>
          <a:ln w="9525">
            <a:solidFill>
              <a:srgbClr val="B7E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560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D8A43"/>
                </a:solidFill>
                <a:latin typeface="Microsoft YaHei"/>
                <a:ea typeface="Microsoft YaHei"/>
              </a:rPr>
              <a:t>个性化校准（8 秒）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58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A1D24"/>
                </a:solidFill>
                <a:latin typeface="Microsoft YaHei"/>
                <a:ea typeface="Microsoft YaHei"/>
              </a:rPr>
              <a:t>检测前采集 ≥ 60 个有效样本建立睁眼基线，闭眼阈值随个体自适应——从机制上消解“眼睛大小 / 眼睑形态”个体差异，这是传统固定阈值方案误报高的根源。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基于面部多特征融合的 Web 端驾驶员疲劳检测系统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84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D24"/>
                </a:solidFill>
                <a:latin typeface="Microsoft YaHei"/>
                <a:ea typeface="Microsoft YaHei"/>
              </a:rPr>
              <a:t>算法核心二：模糊加权融合引擎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F6672"/>
                </a:solidFill>
                <a:latin typeface="Microsoft YaHei"/>
                <a:ea typeface="Microsoft YaHei"/>
              </a:rPr>
              <a:t>七特征隶属度加权求和 → 连续指数 → 迟滞分级 → 分级报警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57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疲劳检测系统 ·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5577840" cy="2834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82496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D24"/>
                </a:solidFill>
                <a:latin typeface="Microsoft YaHei"/>
                <a:ea typeface="Microsoft YaHei"/>
              </a:rPr>
              <a:t>疲劳指数 = 100 × Σ wk·μk(xk)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F6672"/>
                </a:solidFill>
                <a:latin typeface="Microsoft YaHei"/>
                <a:ea typeface="Microsoft YaHei"/>
              </a:rPr>
              <a:t>μk 为各特征对“疲劳”的隶属度，wk 权重合计 = 1.00（config.js）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505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A1D24"/>
                </a:solidFill>
                <a:latin typeface="Microsoft YaHei"/>
                <a:ea typeface="Microsoft YaHei"/>
              </a:rPr>
              <a:t>PERCLOS 闭眼占比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500884"/>
            <a:ext cx="2011680" cy="182880"/>
          </a:xfrm>
          <a:prstGeom prst="rect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45059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1D24"/>
                </a:solidFill>
                <a:latin typeface="Consolas"/>
                <a:ea typeface="Consolas"/>
              </a:rPr>
              <a:t>0.30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157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A1D24"/>
                </a:solidFill>
                <a:latin typeface="Microsoft YaHei"/>
                <a:ea typeface="Microsoft YaHei"/>
              </a:rPr>
              <a:t>最长持续闭眼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766060"/>
            <a:ext cx="1341120" cy="18288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71576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1D24"/>
                </a:solidFill>
                <a:latin typeface="Consolas"/>
                <a:ea typeface="Consolas"/>
              </a:rPr>
              <a:t>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98094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A1D24"/>
                </a:solidFill>
                <a:latin typeface="Microsoft YaHei"/>
                <a:ea typeface="Microsoft YaHei"/>
              </a:rPr>
              <a:t>哈欠频率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3031236"/>
            <a:ext cx="938784" cy="182880"/>
          </a:xfrm>
          <a:prstGeom prst="rect">
            <a:avLst/>
          </a:prstGeom>
          <a:solidFill>
            <a:srgbClr val="FFD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98094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1D24"/>
                </a:solidFill>
                <a:latin typeface="Consolas"/>
                <a:ea typeface="Consolas"/>
              </a:rPr>
              <a:t>0.14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2461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A1D24"/>
                </a:solidFill>
                <a:latin typeface="Microsoft YaHei"/>
                <a:ea typeface="Microsoft YaHei"/>
              </a:rPr>
              <a:t>眨眼频率偏移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3296412"/>
            <a:ext cx="670560" cy="18288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32461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1D24"/>
                </a:solidFill>
                <a:latin typeface="Consolas"/>
                <a:ea typeface="Consolas"/>
              </a:rPr>
              <a:t>0.10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51129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A1D24"/>
                </a:solidFill>
                <a:latin typeface="Microsoft YaHei"/>
                <a:ea typeface="Microsoft YaHei"/>
              </a:rPr>
              <a:t>点头频率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3561588"/>
            <a:ext cx="670560" cy="18288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351129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1D24"/>
                </a:solidFill>
                <a:latin typeface="Consolas"/>
                <a:ea typeface="Consolas"/>
              </a:rPr>
              <a:t>0.10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7764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A1D24"/>
                </a:solidFill>
                <a:latin typeface="Microsoft YaHei"/>
                <a:ea typeface="Microsoft YaHei"/>
              </a:rPr>
              <a:t>平均眨眼时长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826763"/>
            <a:ext cx="536448" cy="182880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37764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1D24"/>
                </a:solidFill>
                <a:latin typeface="Consolas"/>
                <a:ea typeface="Consolas"/>
              </a:rPr>
              <a:t>0.08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0416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A1D24"/>
                </a:solidFill>
                <a:latin typeface="Microsoft YaHei"/>
                <a:ea typeface="Microsoft YaHei"/>
              </a:rPr>
              <a:t>头部偏离占比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4091939"/>
            <a:ext cx="536448" cy="182880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404164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1D24"/>
                </a:solidFill>
                <a:latin typeface="Consolas"/>
                <a:ea typeface="Consolas"/>
              </a:rPr>
              <a:t>0.08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517904"/>
            <a:ext cx="5285232" cy="89611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1645919"/>
            <a:ext cx="64008" cy="640080"/>
          </a:xfrm>
          <a:prstGeom prst="rect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627631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D24"/>
                </a:solidFill>
                <a:latin typeface="Microsoft YaHei"/>
                <a:ea typeface="Microsoft YaHei"/>
              </a:rPr>
              <a:t>迟滞 + 驻留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956815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跌回下一级需低 6 分，且需连续满足驻留时长——等级不抖动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2505456"/>
            <a:ext cx="5285232" cy="89611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2633472"/>
            <a:ext cx="64008" cy="64008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2615184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D24"/>
                </a:solidFill>
                <a:latin typeface="Microsoft YaHei"/>
                <a:ea typeface="Microsoft YaHei"/>
              </a:rPr>
              <a:t>语义否决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944368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头部姿态异常时否决 EAR 假阳性（低头闭眼≠入睡），回归实证 0 误报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3493008"/>
            <a:ext cx="5285232" cy="89611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3621024"/>
            <a:ext cx="64008" cy="640080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602736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D24"/>
                </a:solidFill>
                <a:latin typeface="Microsoft YaHei"/>
                <a:ea typeface="Microsoft YaHei"/>
              </a:rPr>
              <a:t>EMA 平滑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931920"/>
            <a:ext cx="4937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指数平滑抑制瞬时毛刺，输出稳定可解释的连续曲线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4535424"/>
            <a:ext cx="5285232" cy="1554480"/>
          </a:xfrm>
          <a:prstGeom prst="roundRect">
            <a:avLst>
              <a:gd name="adj" fmla="val 9000"/>
            </a:avLst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4700016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决策链路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400" y="5138928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1E2836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连续指数（EMA）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0456" y="5193792"/>
            <a:ext cx="274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0183" y="5138928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1E2836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等级判定（迟滞+驻留）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5193792"/>
            <a:ext cx="274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30967" y="5138928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1E2836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分级报警（冷却）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568756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4B2"/>
                </a:solidFill>
                <a:latin typeface="Microsoft YaHei"/>
                <a:ea typeface="Microsoft YaHei"/>
              </a:rPr>
              <a:t>全部参数有文献依据（见《算法参数文献核查记录》）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535424"/>
            <a:ext cx="5577840" cy="1554480"/>
          </a:xfrm>
          <a:prstGeom prst="roundRect">
            <a:avLst>
              <a:gd name="adj" fmla="val 9000"/>
            </a:avLst>
          </a:prstGeom>
          <a:solidFill>
            <a:srgbClr val="EAF2FF"/>
          </a:solidFill>
          <a:ln w="9525">
            <a:solidFill>
              <a:srgbClr val="BF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4700016"/>
            <a:ext cx="5074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A84FF"/>
                </a:solidFill>
                <a:latin typeface="Microsoft YaHei"/>
                <a:ea typeface="Microsoft YaHei"/>
              </a:rPr>
              <a:t>为什么用模糊逻辑而不是深度学习？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" y="5084064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A1D24"/>
                </a:solidFill>
                <a:latin typeface="Microsoft YaHei"/>
                <a:ea typeface="Microsoft YaHei"/>
              </a:rPr>
              <a:t>无需大规模标注训练数据；权重与阈值可解释、可审计、可个性化调整——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1" i="0">
                <a:solidFill>
                  <a:srgbClr val="1A1D24"/>
                </a:solidFill>
                <a:latin typeface="Microsoft YaHei"/>
                <a:ea typeface="Microsoft YaHei"/>
              </a:rPr>
              <a:t>契合车载安全场景对“判定依据可追溯”的硬要求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基于面部多特征融合的 Web 端驾驶员疲劳检测系统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84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D24"/>
                </a:solidFill>
                <a:latin typeface="Microsoft YaHei"/>
                <a:ea typeface="Microsoft YaHei"/>
              </a:rPr>
              <a:t>工程实现亮点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F6672"/>
                </a:solidFill>
                <a:latin typeface="Microsoft YaHei"/>
                <a:ea typeface="Microsoft YaHei"/>
              </a:rPr>
              <a:t>把“演示 Demo”做成“可交付系统”的四项关键工程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57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疲劳检测系统 ·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5468112" cy="164592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1755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773936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D24"/>
                </a:solidFill>
                <a:latin typeface="Microsoft YaHei"/>
                <a:ea typeface="Microsoft YaHei"/>
              </a:rPr>
              <a:t>推理引擎韧性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19456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5F6672"/>
                </a:solidFill>
                <a:latin typeface="Microsoft YaHei"/>
                <a:ea typeface="Microsoft YaHei"/>
              </a:rPr>
              <a:t>WebGL GPU 委托失败自动回退 CPU；假摄像头 e2e 双链路各 11 项断言实测通过，授权 15s 超时兜底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72768"/>
            <a:ext cx="5468112" cy="164592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9944" y="1755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1773936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D24"/>
                </a:solidFill>
                <a:latin typeface="Microsoft YaHei"/>
                <a:ea typeface="Microsoft YaHei"/>
              </a:rPr>
              <a:t>零外部依赖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19456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5F6672"/>
                </a:solidFill>
                <a:latin typeface="Microsoft YaHei"/>
                <a:ea typeface="Microsoft YaHei"/>
              </a:rPr>
              <a:t>模型 / WASM 全本地；CSP default-src 'self'；首页无任何外部域名请求（离线可用前提）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01568"/>
            <a:ext cx="5468112" cy="164592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3584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602736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D24"/>
                </a:solidFill>
                <a:latin typeface="Microsoft YaHei"/>
                <a:ea typeface="Microsoft YaHei"/>
              </a:rPr>
              <a:t>配置安全三重校验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02336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5F6672"/>
                </a:solidFill>
                <a:latin typeface="Microsoft YaHei"/>
                <a:ea typeface="Microsoft YaHei"/>
              </a:rPr>
              <a:t>localStorage 载入配置经原型污染拦截 → 类型校验 → 47 条路径数值区间钳制（越界收边界）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01568"/>
            <a:ext cx="5468112" cy="164592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9944" y="3584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3602736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D24"/>
                </a:solidFill>
                <a:latin typeface="Microsoft YaHei"/>
                <a:ea typeface="Microsoft YaHei"/>
              </a:rPr>
              <a:t>工程化质量门禁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402336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5F6672"/>
                </a:solidFill>
                <a:latin typeface="Microsoft YaHei"/>
                <a:ea typeface="Microsoft YaHei"/>
              </a:rPr>
              <a:t>verify:full 一键全量：静态检查 + 回归 137 + 集成 41 + typecheck + lint，全绿才算过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75504"/>
            <a:ext cx="11091672" cy="1133856"/>
          </a:xfrm>
          <a:prstGeom prst="roundRect">
            <a:avLst>
              <a:gd name="adj" fmla="val 9000"/>
            </a:avLst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21808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安全纵深（集成测试 41 项实证）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3035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7" y="5321808"/>
            <a:ext cx="2286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D5DBE3"/>
                </a:solidFill>
                <a:latin typeface="Microsoft YaHei"/>
                <a:ea typeface="Microsoft YaHei"/>
              </a:rPr>
              <a:t>目录穿越 / URL 编码穿越 / 空字节注入 → 全部拒绝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53035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5321808"/>
            <a:ext cx="2286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D5DBE3"/>
                </a:solidFill>
                <a:latin typeface="Microsoft YaHei"/>
                <a:ea typeface="Microsoft YaHei"/>
              </a:rPr>
              <a:t>CSV 公式注入防护；XSS 全输入面测试通过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53035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A84FF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6064" y="5321808"/>
            <a:ext cx="2286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D5DBE3"/>
                </a:solidFill>
                <a:latin typeface="Microsoft YaHei"/>
                <a:ea typeface="Microsoft YaHei"/>
              </a:rPr>
              <a:t>COOP / Permissions-Policy 收紧摄像头权限面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基于面部多特征融合的 Web 端驾驶员疲劳检测系统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84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D24"/>
                </a:solidFill>
                <a:latin typeface="Microsoft YaHei"/>
                <a:ea typeface="Microsoft YaHei"/>
              </a:rPr>
              <a:t>质量保障体系：对抗性测试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F6672"/>
                </a:solidFill>
                <a:latin typeface="Microsoft YaHei"/>
                <a:ea typeface="Microsoft YaHei"/>
              </a:rPr>
              <a:t>方法论：交互清单普查 × 状态组合矩阵 × 反逻辑用户角色扮演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57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疲劳检测系统 ·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70048" cy="932688"/>
          </a:xfrm>
          <a:prstGeom prst="roundRect">
            <a:avLst>
              <a:gd name="adj" fmla="val 9000"/>
            </a:avLst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2670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400+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48256"/>
            <a:ext cx="2670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Microsoft YaHei"/>
                <a:ea typeface="Microsoft YaHei"/>
              </a:rPr>
              <a:t>项自动化断言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463040"/>
            <a:ext cx="2670048" cy="932688"/>
          </a:xfrm>
          <a:prstGeom prst="roundRect">
            <a:avLst>
              <a:gd name="adj" fmla="val 9000"/>
            </a:avLst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572768"/>
            <a:ext cx="2670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048256"/>
            <a:ext cx="2670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Microsoft YaHei"/>
                <a:ea typeface="Microsoft YaHei"/>
              </a:rPr>
              <a:t>套可复跑脚本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463040"/>
            <a:ext cx="2670048" cy="932688"/>
          </a:xfrm>
          <a:prstGeom prst="roundRect">
            <a:avLst>
              <a:gd name="adj" fmla="val 9000"/>
            </a:avLst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572768"/>
            <a:ext cx="2670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048256"/>
            <a:ext cx="2670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Microsoft YaHei"/>
                <a:ea typeface="Microsoft YaHei"/>
              </a:rPr>
              <a:t>控制台错误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1463040"/>
            <a:ext cx="2670048" cy="932688"/>
          </a:xfrm>
          <a:prstGeom prst="roundRect">
            <a:avLst>
              <a:gd name="adj" fmla="val 9000"/>
            </a:avLst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572768"/>
            <a:ext cx="2670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048256"/>
            <a:ext cx="2670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Microsoft YaHei"/>
                <a:ea typeface="Microsoft YaHei"/>
              </a:rPr>
              <a:t>axe 严重问题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542032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D24"/>
                </a:solidFill>
                <a:latin typeface="Microsoft YaHei"/>
                <a:ea typeface="Microsoft YaHei"/>
              </a:rPr>
              <a:t>测试套件全景（全部通过，tools/ 下可一键复跑）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88950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01752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单元回归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5456" y="299008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137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288950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01752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集成/安全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12664" y="299008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41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288950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01752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UI 全流程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299008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56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0264" y="288950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6" y="301752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交互混沌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27080" y="299008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52958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65760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开关混沌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05456" y="363016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352958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365760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跨引擎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12664" y="363016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3056" y="352958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365760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状态边界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2" y="363016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0264" y="352958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34856" y="365760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导出一致性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27080" y="363016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16966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429768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纯键盘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05456" y="427024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55848" y="416966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0440" y="429768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中断恢复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12664" y="427024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3056" y="416966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429768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故障注入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19872" y="427024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70264" y="4169664"/>
            <a:ext cx="2670048" cy="5486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34856" y="429768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D24"/>
                </a:solidFill>
                <a:latin typeface="Microsoft YaHei"/>
                <a:ea typeface="Microsoft YaHei"/>
              </a:rPr>
              <a:t>探索角色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27080" y="4270248"/>
            <a:ext cx="566928" cy="347472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4864608"/>
            <a:ext cx="11091672" cy="1371600"/>
          </a:xfrm>
          <a:prstGeom prst="roundRect">
            <a:avLst>
              <a:gd name="adj" fmla="val 9000"/>
            </a:avLst>
          </a:prstGeom>
          <a:solidFill>
            <a:srgbClr val="FFF3F0"/>
          </a:solidFill>
          <a:ln w="9525">
            <a:solidFill>
              <a:srgbClr val="FFC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499262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453A"/>
                </a:solidFill>
                <a:latin typeface="Microsoft YaHei"/>
                <a:ea typeface="Microsoft YaHei"/>
              </a:rPr>
              <a:t>典型案例（现象 A · P0）：专业 / 普通模式下载的报告内容相同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5376672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1A1D24"/>
                </a:solidFill>
                <a:latin typeface="Microsoft YaHei"/>
                <a:ea typeface="Microsoft YaHei"/>
              </a:rPr>
              <a:t>根因：HTML 导出的“空壳折叠”逻辑不区分模式——普通版泄漏专业术语，专业版折成同样文案，两份文件肉眼一致。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1A1D24"/>
                </a:solidFill>
                <a:latin typeface="Microsoft YaHei"/>
                <a:ea typeface="Microsoft YaHei"/>
              </a:rPr>
              <a:t>演进：先按模式分流修复；后按交付需求升级为统一专业版——无论开关，导出恒为详细报告（body 强制 pro-mode），CSV / JSON 与模式无关。开关混沌 24/24 复测通过。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基于面部多特征融合的 Web 端驾驶员疲劳检测系统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84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D24"/>
                </a:solidFill>
                <a:latin typeface="Microsoft YaHei"/>
                <a:ea typeface="Microsoft YaHei"/>
              </a:rPr>
              <a:t>现场演示（演示模式，60 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F6672"/>
                </a:solidFill>
                <a:latin typeface="Microsoft YaHei"/>
                <a:ea typeface="Microsoft YaHei"/>
              </a:rPr>
              <a:t>四级预警全流程：与真实摄像头同链路，仅信号源换为模拟剧本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57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疲劳检测系统 · 毕业设计答辩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276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91056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A1D24"/>
                </a:solidFill>
                <a:latin typeface="Microsoft YaHei"/>
                <a:ea typeface="Microsoft YaHei"/>
              </a:rPr>
              <a:t>启动检测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3852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浏览器打开即用，无任何安装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2084832"/>
            <a:ext cx="54864" cy="4572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23744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A1D24"/>
                </a:solidFill>
                <a:latin typeface="Microsoft YaHei"/>
                <a:ea typeface="Microsoft YaHei"/>
              </a:rPr>
              <a:t>校准 8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71216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建立个体睁眼基线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" y="3017520"/>
            <a:ext cx="54864" cy="4572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49300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56432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A1D24"/>
                </a:solidFill>
                <a:latin typeface="Microsoft YaHei"/>
                <a:ea typeface="Microsoft YaHei"/>
              </a:rPr>
              <a:t>实时检测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03904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示意脸 + 指标曲线 + 特征值联动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" y="3950208"/>
            <a:ext cx="54864" cy="4572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42569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A1D24"/>
                </a:solidFill>
                <a:latin typeface="Microsoft YaHei"/>
                <a:ea typeface="Microsoft YaHei"/>
              </a:rPr>
              <a:t>四级预警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36592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轻度提示 → 重度声光报警横幅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" y="4882896"/>
            <a:ext cx="54864" cy="457200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535838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21808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A1D24"/>
                </a:solidFill>
                <a:latin typeface="Microsoft YaHei"/>
                <a:ea typeface="Microsoft YaHei"/>
              </a:rPr>
              <a:t>报告导出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69280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HTML / JSON / CSV 三格式秒级生成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1508760"/>
            <a:ext cx="7360920" cy="4178807"/>
          </a:xfrm>
          <a:prstGeom prst="roundRect">
            <a:avLst>
              <a:gd name="adj" fmla="val 3000"/>
            </a:avLst>
          </a:prstGeom>
          <a:solidFill>
            <a:srgbClr val="0B0F14"/>
          </a:solidFill>
          <a:ln w="15240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orkbench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54480"/>
            <a:ext cx="7269480" cy="40873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43400" y="5705856"/>
            <a:ext cx="7269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工作台实测截图：实时示意脸 · 疲劳指数仪表 · 四特征曲线联动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998464"/>
            <a:ext cx="3566160" cy="457200"/>
          </a:xfrm>
          <a:prstGeom prst="roundRect">
            <a:avLst>
              <a:gd name="adj" fmla="val 9000"/>
            </a:avLst>
          </a:prstGeom>
          <a:solidFill>
            <a:srgbClr val="E8F8EE"/>
          </a:solidFill>
          <a:ln w="9525">
            <a:solidFill>
              <a:srgbClr val="B7E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610819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D8A43"/>
                </a:solidFill>
                <a:latin typeface="Microsoft YaHei"/>
                <a:ea typeface="Microsoft YaHei"/>
              </a:rPr>
              <a:t>应急预案：断网照样演示（PWA 离线）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基于面部多特征融合的 Web 端驾驶员疲劳检测系统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84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D24"/>
                </a:solidFill>
                <a:latin typeface="Microsoft YaHei"/>
                <a:ea typeface="Microsoft YaHei"/>
              </a:rPr>
              <a:t>局限性与展望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F6672"/>
                </a:solidFill>
                <a:latin typeface="Microsoft YaHei"/>
                <a:ea typeface="Microsoft YaHei"/>
              </a:rPr>
              <a:t>主动亮牌：如实呈现适用边界，比回避更专业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57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1AD"/>
                </a:solidFill>
                <a:latin typeface="Microsoft YaHei"/>
                <a:ea typeface="Microsoft YaHei"/>
              </a:rPr>
              <a:t>疲劳检测系统 · 毕业设计答辩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453A"/>
                </a:solidFill>
                <a:latin typeface="Microsoft YaHei"/>
                <a:ea typeface="Microsoft YaHei"/>
              </a:rPr>
              <a:t>当前局限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38528"/>
            <a:ext cx="5394960" cy="1225296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66544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D24"/>
                </a:solidFill>
                <a:latin typeface="Microsoft YaHei"/>
                <a:ea typeface="Microsoft YaHei"/>
              </a:rPr>
              <a:t>光照与遮挡敏感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逆光、墨镜、大面积口罩会显著降低关键点质量（质量门控会给出明确提示而非误判）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5394960" cy="1225296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419856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D24"/>
                </a:solidFill>
                <a:latin typeface="Microsoft YaHei"/>
                <a:ea typeface="Microsoft YaHei"/>
              </a:rPr>
              <a:t>纯视觉单模态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767328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无方向盘握力 / 心率等生理信号，模态间无法交叉印证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45152"/>
            <a:ext cx="5394960" cy="1225296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773168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D24"/>
                </a:solidFill>
                <a:latin typeface="Microsoft YaHei"/>
                <a:ea typeface="Microsoft YaHei"/>
              </a:rPr>
              <a:t>验证规模有限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120640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自动化 + 假摄像头 e2e 充分，但真实驾驶舱大规模数据尚未采集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517904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D8A43"/>
                </a:solidFill>
                <a:latin typeface="Microsoft YaHei"/>
                <a:ea typeface="Microsoft YaHei"/>
              </a:rPr>
              <a:t>后续展望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938528"/>
            <a:ext cx="5394960" cy="1225296"/>
          </a:xfrm>
          <a:prstGeom prst="roundRect">
            <a:avLst>
              <a:gd name="adj" fmla="val 9000"/>
            </a:avLst>
          </a:prstGeom>
          <a:solidFill>
            <a:srgbClr val="E8F8EE"/>
          </a:solidFill>
          <a:ln w="9525">
            <a:solidFill>
              <a:srgbClr val="B7E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066544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D24"/>
                </a:solidFill>
                <a:latin typeface="Microsoft YaHei"/>
                <a:ea typeface="Microsoft YaHei"/>
              </a:rPr>
              <a:t>多模态融合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414016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接入方向盘握力 / 可穿戴心率，与视觉特征在同一模糊框架下加权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91840"/>
            <a:ext cx="5394960" cy="1225296"/>
          </a:xfrm>
          <a:prstGeom prst="roundRect">
            <a:avLst>
              <a:gd name="adj" fmla="val 9000"/>
            </a:avLst>
          </a:prstGeom>
          <a:solidFill>
            <a:srgbClr val="E8F8EE"/>
          </a:solidFill>
          <a:ln w="9525">
            <a:solidFill>
              <a:srgbClr val="B7E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419856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D24"/>
                </a:solidFill>
                <a:latin typeface="Microsoft YaHei"/>
                <a:ea typeface="Microsoft YaHei"/>
              </a:rPr>
              <a:t>车队端侧部署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767328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PWA 形态天然适配车载 WebView，离线能力即车载数据不出车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645152"/>
            <a:ext cx="5394960" cy="1225296"/>
          </a:xfrm>
          <a:prstGeom prst="roundRect">
            <a:avLst>
              <a:gd name="adj" fmla="val 9000"/>
            </a:avLst>
          </a:prstGeom>
          <a:solidFill>
            <a:srgbClr val="E8F8EE"/>
          </a:solidFill>
          <a:ln w="9525">
            <a:solidFill>
              <a:srgbClr val="B7E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773168"/>
            <a:ext cx="4937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D24"/>
                </a:solidFill>
                <a:latin typeface="Microsoft YaHei"/>
                <a:ea typeface="Microsoft YaHei"/>
              </a:rPr>
              <a:t>个性化在线学习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5120640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F6672"/>
                </a:solidFill>
                <a:latin typeface="Microsoft YaHei"/>
                <a:ea typeface="Microsoft YaHei"/>
              </a:rPr>
              <a:t>把个体校准从“8 秒基线”升级为随使用持续更新的自适应基线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基于面部多特征融合的 Web 端驾驶员疲劳检测系统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AA1AD"/>
                </a:solidFill>
                <a:latin typeface="Microsoft YaHei"/>
                <a:ea typeface="Microsoft YaHe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36008" y="2103120"/>
            <a:ext cx="694944" cy="64008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67528" y="2103120"/>
            <a:ext cx="694944" cy="64008"/>
          </a:xfrm>
          <a:prstGeom prst="rect">
            <a:avLst/>
          </a:prstGeom>
          <a:solidFill>
            <a:srgbClr val="E3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2103120"/>
            <a:ext cx="694944" cy="64008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30568" y="2103120"/>
            <a:ext cx="694944" cy="64008"/>
          </a:xfrm>
          <a:prstGeom prst="rect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</a:rPr>
              <a:t>感谢聆听，请各位老师批评指正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56432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A84FF"/>
                </a:solidFill>
                <a:latin typeface="Microsoft YaHei"/>
                <a:ea typeface="Microsoft YaHei"/>
              </a:rPr>
              <a:t>Q &amp;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4328" y="4261104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E2836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多特征模糊融合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4261104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E2836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个体化校准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4261104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E2836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400+ 断言质量门禁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8" y="4261104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1E2836"/>
          </a:solidFill>
          <a:ln w="9525">
            <a:solidFill>
              <a:srgbClr val="3A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PWA 离线可用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4A3"/>
                </a:solidFill>
                <a:latin typeface="Microsoft YaHei"/>
                <a:ea typeface="Microsoft YaHei"/>
              </a:rPr>
              <a:t>基于面部多特征融合的 Web 端驾驶员疲劳检测系统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